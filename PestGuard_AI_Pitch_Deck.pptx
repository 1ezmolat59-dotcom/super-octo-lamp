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($)</c:v>
                </c:pt>
              </c:strCache>
            </c:strRef>
          </c:tx>
          <c:spPr>
            <a:solidFill>
              <a:srgbClr val="3A9C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3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132000</c:v>
                </c:pt>
                <c:pt idx="1">
                  <c:v>684000</c:v>
                </c:pt>
                <c:pt idx="2">
                  <c:v>2304000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3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9C6A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E6B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3A9C6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PestGuard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D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Compliance &amp; Chemical Tracking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AAD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Pest Control Businesses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2926080"/>
            <a:ext cx="5029200" cy="0"/>
          </a:xfrm>
          <a:prstGeom prst="line">
            <a:avLst/>
          </a:prstGeom>
          <a:noFill/>
          <a:ln w="19050">
            <a:solidFill>
              <a:srgbClr val="3A9C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3584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Market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$18,750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40280" y="3584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Fine/Violation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6908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69080" y="3584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Adoption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A9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$26B industry still tracking compliance in binders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1508760"/>
          </a:xfrm>
          <a:prstGeom prst="rect">
            <a:avLst/>
          </a:prstGeom>
          <a:solidFill>
            <a:srgbClr val="3A9C6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fill out carbon-copy forms in the van. Lost. Illegible. Unfiled.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54864" cy="1508760"/>
          </a:xfrm>
          <a:prstGeom prst="rect">
            <a:avLst/>
          </a:prstGeom>
          <a:solidFill>
            <a:srgbClr val="3A9C6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8620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Min/Tech/Day Wasted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67335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end-of-day data entry into spreadsheets — every single day.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34640"/>
            <a:ext cx="54864" cy="1508760"/>
          </a:xfrm>
          <a:prstGeom prst="rect">
            <a:avLst/>
          </a:prstGeom>
          <a:solidFill>
            <a:srgbClr val="3A9C6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Terror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inspector arrives, owners spend hours searching through binders.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34640"/>
            <a:ext cx="54864" cy="1508760"/>
          </a:xfrm>
          <a:prstGeom prst="rect">
            <a:avLst/>
          </a:prstGeom>
          <a:solidFill>
            <a:srgbClr val="3A9C6A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8620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Lapses Undetected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36499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regularly discover a tech's state license expired — after the application.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143000"/>
            <a:ext cx="2423160" cy="3337560"/>
          </a:xfrm>
          <a:prstGeom prst="rect">
            <a:avLst/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1280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Non-Compliance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75120" y="2029968"/>
            <a:ext cx="1920240" cy="0"/>
          </a:xfrm>
          <a:prstGeom prst="line">
            <a:avLst/>
          </a:prstGeom>
          <a:noFill/>
          <a:ln w="12700">
            <a:solidFill>
              <a:srgbClr val="3A9C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$18,750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6520" y="24505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EPA Violation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46520" y="31363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State Fine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6520" y="38221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Risk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Lawsuits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46520" y="45079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Exposure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A9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PestGuard AI — Compliance on Autopilot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0"/>
          </a:xfrm>
          <a:prstGeom prst="line">
            <a:avLst/>
          </a:prstGeom>
          <a:noFill/>
          <a:ln w="10160">
            <a:solidFill>
              <a:srgbClr val="3A9C6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325880"/>
            <a:ext cx="1627632" cy="3429000"/>
          </a:xfrm>
          <a:prstGeom prst="rect">
            <a:avLst/>
          </a:prstGeom>
          <a:solidFill>
            <a:srgbClr val="2E6B4A">
              <a:alpha val="70000"/>
            </a:srgbClr>
          </a:solidFill>
          <a:ln w="6350">
            <a:solidFill>
              <a:srgbClr val="3A9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463040"/>
            <a:ext cx="658368" cy="658368"/>
          </a:xfrm>
          <a:prstGeom prst="ellipse">
            <a:avLst/>
          </a:prstGeom>
          <a:solidFill>
            <a:srgbClr val="3A9C6A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221284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Logger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2944368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Voice-to-log in under 60 sec. Auto-fills EPA reg. numbers, weather, GPS. Replaces 15+ min of manual data entry.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1325880"/>
            <a:ext cx="1627632" cy="3429000"/>
          </a:xfrm>
          <a:prstGeom prst="rect">
            <a:avLst/>
          </a:prstGeom>
          <a:solidFill>
            <a:srgbClr val="2E6B4A">
              <a:alpha val="70000"/>
            </a:srgbClr>
          </a:solidFill>
          <a:ln w="6350">
            <a:solidFill>
              <a:srgbClr val="3A9C6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9736" y="1463040"/>
            <a:ext cx="658368" cy="658368"/>
          </a:xfrm>
          <a:prstGeom prst="ellipse">
            <a:avLst/>
          </a:prstGeom>
          <a:solidFill>
            <a:srgbClr val="3A9C6A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459736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20824" y="221284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944368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log entry against state rules instantly. Flags violations before the tech leaves the property.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30752" y="1325880"/>
            <a:ext cx="1627632" cy="3429000"/>
          </a:xfrm>
          <a:prstGeom prst="rect">
            <a:avLst/>
          </a:prstGeom>
          <a:solidFill>
            <a:srgbClr val="2E6B4A">
              <a:alpha val="70000"/>
            </a:srgbClr>
          </a:solidFill>
          <a:ln w="6350">
            <a:solidFill>
              <a:srgbClr val="3A9C6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24528" y="1463040"/>
            <a:ext cx="658368" cy="658368"/>
          </a:xfrm>
          <a:prstGeom prst="ellipse">
            <a:avLst/>
          </a:prstGeom>
          <a:solidFill>
            <a:srgbClr val="3A9C6A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224528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🪪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85616" y="221284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Tracker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22192" y="2944368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at 90/60/30 days before expiry. Blocks scheduling unlicensed techs for restricted jobs.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95544" y="1325880"/>
            <a:ext cx="1627632" cy="3429000"/>
          </a:xfrm>
          <a:prstGeom prst="rect">
            <a:avLst/>
          </a:prstGeom>
          <a:solidFill>
            <a:srgbClr val="2E6B4A">
              <a:alpha val="70000"/>
            </a:srgbClr>
          </a:solidFill>
          <a:ln w="6350">
            <a:solidFill>
              <a:srgbClr val="3A9C6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1463040"/>
            <a:ext cx="658368" cy="658368"/>
          </a:xfrm>
          <a:prstGeom prst="ellipse">
            <a:avLst/>
          </a:prstGeom>
          <a:solidFill>
            <a:srgbClr val="3A9C6A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50408" y="221284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86984" y="2944368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Inspector-ready PDF for any date range, tech, or chemical — generated in 30 seconds, not 3 hours.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60336" y="1325880"/>
            <a:ext cx="1627632" cy="3429000"/>
          </a:xfrm>
          <a:prstGeom prst="rect">
            <a:avLst/>
          </a:prstGeom>
          <a:solidFill>
            <a:srgbClr val="2E6B4A">
              <a:alpha val="70000"/>
            </a:srgbClr>
          </a:solidFill>
          <a:ln w="6350">
            <a:solidFill>
              <a:srgbClr val="3A9C6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54112" y="1463040"/>
            <a:ext cx="658368" cy="658368"/>
          </a:xfrm>
          <a:prstGeom prst="ellipse">
            <a:avLst/>
          </a:prstGeom>
          <a:solidFill>
            <a:srgbClr val="3A9C6A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54112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0" y="221284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51776" y="2944368"/>
            <a:ext cx="1444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restaurants &amp; hospitals view and download their compliance history online — sealing bigger contracts.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A9C6A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"From paper binders to audit-ready in 60 seconds."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A9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 market with near-zero compliance software penetration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000" y="1097280"/>
            <a:ext cx="6858000" cy="804672"/>
          </a:xfrm>
          <a:prstGeom prst="rect">
            <a:avLst/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52728" y="114300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11704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U.S. Pest Control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545336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800K+ workers, 30,000 companies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57800" y="11430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$26B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57400" y="2084832"/>
            <a:ext cx="5029200" cy="804672"/>
          </a:xfrm>
          <a:prstGeom prst="rect">
            <a:avLst/>
          </a:prstGeom>
          <a:solidFill>
            <a:srgbClr val="2E6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67128" y="2130552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215798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Control Software Market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532888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adopting FSM software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4920" y="213055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$373M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971800" y="3072384"/>
            <a:ext cx="3200400" cy="804672"/>
          </a:xfrm>
          <a:prstGeom prst="rect">
            <a:avLst/>
          </a:prstGeom>
          <a:solidFill>
            <a:srgbClr val="3A9C6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81528" y="311810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314553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3-Year Obtainable 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3520440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· 600 customers · 5% market penetration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118104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$14.4M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" y="4133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Tailwinds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453128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EPA enforcement accelerating — more FIFRA fines in H1 2024 than all of 2022–23 combined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Hotels &amp; restaurants now REQUIRE digital compliance docs from pest control vendors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12+ states passed stricter pesticide reporting laws in 2023–2025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A9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built FSM. Nobody built Compliance.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11680" cy="41148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1097280"/>
            <a:ext cx="1280160" cy="41148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097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GorillaDesk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1097280"/>
            <a:ext cx="1280160" cy="41148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097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FieldRoutes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097280"/>
            <a:ext cx="1280160" cy="41148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PestPac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097280"/>
            <a:ext cx="1280160" cy="411480"/>
          </a:xfrm>
          <a:prstGeom prst="rect">
            <a:avLst/>
          </a:prstGeom>
          <a:solidFill>
            <a:srgbClr val="3A9C6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97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PestGuard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508760"/>
            <a:ext cx="201168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Product DB (20K+)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1508760"/>
            <a:ext cx="128016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1508760"/>
            <a:ext cx="128016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508760"/>
            <a:ext cx="128016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508760"/>
            <a:ext cx="1280160" cy="457200"/>
          </a:xfrm>
          <a:prstGeom prst="rect">
            <a:avLst/>
          </a:prstGeom>
          <a:solidFill>
            <a:srgbClr val="E8F5EE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1984248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9842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State Rules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31720" y="1984248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19842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11880" y="1984248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19842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1984248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9842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1984248"/>
            <a:ext cx="1280160" cy="457200"/>
          </a:xfrm>
          <a:prstGeom prst="rect">
            <a:avLst/>
          </a:prstGeom>
          <a:solidFill>
            <a:srgbClr val="E8F5EE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9842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0040" y="2459736"/>
            <a:ext cx="201168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4597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Voice-to-Log in Field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31720" y="2459736"/>
            <a:ext cx="128016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0" y="24597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11880" y="2459736"/>
            <a:ext cx="128016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0" y="24597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2459736"/>
            <a:ext cx="128016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24597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459736"/>
            <a:ext cx="1280160" cy="457200"/>
          </a:xfrm>
          <a:prstGeom prst="rect">
            <a:avLst/>
          </a:prstGeom>
          <a:solidFill>
            <a:srgbClr val="E8F5EE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24597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20040" y="2935224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9352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 Audit Report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31720" y="2935224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293522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11880" y="2935224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0" y="293522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92040" y="2935224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293522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72200" y="2935224"/>
            <a:ext cx="1280160" cy="457200"/>
          </a:xfrm>
          <a:prstGeom prst="rect">
            <a:avLst/>
          </a:prstGeom>
          <a:solidFill>
            <a:srgbClr val="E8F5EE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293522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20040" y="3410712"/>
            <a:ext cx="201168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4107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Compliance Portal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31720" y="3410712"/>
            <a:ext cx="128016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0" y="341071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611880" y="3410712"/>
            <a:ext cx="128016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0" y="341071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892040" y="3410712"/>
            <a:ext cx="1280160" cy="457200"/>
          </a:xfrm>
          <a:prstGeom prst="rect">
            <a:avLst/>
          </a:prstGeom>
          <a:solidFill>
            <a:srgbClr val="F0F7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341071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172200" y="3410712"/>
            <a:ext cx="1280160" cy="457200"/>
          </a:xfrm>
          <a:prstGeom prst="rect">
            <a:avLst/>
          </a:prstGeom>
          <a:solidFill>
            <a:srgbClr val="E8F5EE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0" y="341071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320040" y="3886200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3886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All-50-State Templates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331720" y="3886200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611880" y="3886200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892040" y="3886200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3776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172200" y="3886200"/>
            <a:ext cx="1280160" cy="457200"/>
          </a:xfrm>
          <a:prstGeom prst="rect">
            <a:avLst/>
          </a:prstGeom>
          <a:solidFill>
            <a:srgbClr val="E8F5EE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320040" y="4279392"/>
            <a:ext cx="8503920" cy="640080"/>
          </a:xfrm>
          <a:prstGeom prst="rect">
            <a:avLst/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457200" y="42793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Our Strategy: We integrate alongside GorillaDesk &amp; FieldRoutes — not compete. We are the compliance layer they don't have and their customers desperately need.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A9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subscription with high switching costs &amp; strong retention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011680" cy="36576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" y="123444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9184" y="158191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9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9184" y="213055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240487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techs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743200"/>
            <a:ext cx="1463040" cy="0"/>
          </a:xfrm>
          <a:prstGeom prst="line">
            <a:avLst/>
          </a:prstGeom>
          <a:noFill/>
          <a:ln w="6350">
            <a:solidFill>
              <a:srgbClr val="3A9C6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260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Mobile logging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EPA database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export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alerts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32304" y="1097280"/>
            <a:ext cx="2011680" cy="3657600"/>
          </a:xfrm>
          <a:prstGeom prst="rect">
            <a:avLst/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32304" y="1097280"/>
            <a:ext cx="2011680" cy="29260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7" name="Text 15"/>
          <p:cNvSpPr/>
          <p:nvPr/>
        </p:nvSpPr>
        <p:spPr>
          <a:xfrm>
            <a:off x="2432304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MOST 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05456" y="144475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05456" y="179222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$249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505456" y="234086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05456" y="26151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4–12 techs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06624" y="2953512"/>
            <a:ext cx="1463040" cy="0"/>
          </a:xfrm>
          <a:prstGeom prst="line">
            <a:avLst/>
          </a:prstGeom>
          <a:noFill/>
          <a:ln w="6350">
            <a:solidFill>
              <a:srgbClr val="F4A300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313639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State compliance 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42032" y="354787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reports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42032" y="395935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License tracker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42032" y="43708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integrations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08576" y="1097280"/>
            <a:ext cx="2011680" cy="36576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81728" y="123444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81728" y="158191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$499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681728" y="213055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81728" y="240487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13–30 techs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82896" y="2743200"/>
            <a:ext cx="1463040" cy="0"/>
          </a:xfrm>
          <a:prstGeom prst="line">
            <a:avLst/>
          </a:prstGeom>
          <a:noFill/>
          <a:ln w="6350">
            <a:solidFill>
              <a:srgbClr val="2E6B4A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29260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Chemical inventory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18304" y="33375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 portal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18304" y="37490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Multi-state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18304" y="41605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simulation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84848" y="1097280"/>
            <a:ext cx="2011680" cy="3657600"/>
          </a:xfrm>
          <a:prstGeom prst="rect">
            <a:avLst/>
          </a:prstGeom>
          <a:solidFill>
            <a:srgbClr val="2E4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58000" y="123444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858000" y="158191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858000" y="21945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31–100+ techs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59168" y="2743200"/>
            <a:ext cx="1463040" cy="0"/>
          </a:xfrm>
          <a:prstGeom prst="line">
            <a:avLst/>
          </a:prstGeom>
          <a:noFill/>
          <a:ln w="6350">
            <a:solidFill>
              <a:srgbClr val="F4A300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94576" y="29260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Franchise mgmt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94576" y="33375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portal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94576" y="37490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Compliance advisor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94576" y="41605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guarantee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47" name="Text 45"/>
          <p:cNvSpPr/>
          <p:nvPr/>
        </p:nvSpPr>
        <p:spPr>
          <a:xfrm>
            <a:off x="182880" y="48006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ARPU: $310/mo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664208" y="48006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 $11K–$18K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145536" y="48006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CAC: ~$1,000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26864" y="48006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LTV:CAC: 11–18×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08192" y="48006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85%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589520" y="48006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Target: &lt;2%/mo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A9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3-Phase launch strategy with a built-in unfair advantage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743200" cy="374904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2743200" cy="548640"/>
          </a:xfrm>
          <a:prstGeom prst="rect">
            <a:avLst/>
          </a:prstGeom>
          <a:solidFill>
            <a:srgbClr val="3A9C6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15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→ Beta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5 beta customers from existing pest control relationships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Free compliance audits → "We found 47 errors" case study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Build state regulatory database (all 50 states)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Target: 5–10 paying customers, 3 testimonials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2A4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
            <a:srgbClr val="2E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115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371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175564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Association-Led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3756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NPMA PestWorld conference — 5,500+ member companies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State PCA meetings — 20-min compliance talks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PCT Magazine contributed article on EPA fines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Target: 50 customers, $5,000 MRR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4768" y="1097280"/>
            <a:ext cx="2743200" cy="3749040"/>
          </a:xfrm>
          <a:prstGeom prst="rect">
            <a:avLst/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1097280"/>
            <a:ext cx="2743200" cy="54864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25" name="Text 23"/>
          <p:cNvSpPr/>
          <p:nvPr/>
        </p:nvSpPr>
        <p:spPr>
          <a:xfrm>
            <a:off x="6254496" y="1115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54496" y="1371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10–24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175564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&amp; Scale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81928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GorillaDesk / FieldRoutes integration partnerships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81928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Insurance broker compliance discount bundling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81928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Commercial property management group deals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81928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Target: 200 customers, $57,000 MRR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99232" y="2971800"/>
            <a:ext cx="201168" cy="0"/>
          </a:xfrm>
          <a:prstGeom prst="line">
            <a:avLst/>
          </a:prstGeom>
          <a:noFill/>
          <a:ln w="25400">
            <a:solidFill>
              <a:srgbClr val="3A9C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80944" y="28346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9C6A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0" y="2971800"/>
            <a:ext cx="201168" cy="0"/>
          </a:xfrm>
          <a:prstGeom prst="line">
            <a:avLst/>
          </a:prstGeom>
          <a:noFill/>
          <a:ln w="25400">
            <a:solidFill>
              <a:srgbClr val="3A9C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5312" y="28346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9C6A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A9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3-year path to $2.3M ARR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9728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143000"/>
            <a:ext cx="3063240" cy="1097280"/>
          </a:xfrm>
          <a:prstGeom prst="rect">
            <a:avLst/>
          </a:prstGeom>
          <a:solidFill>
            <a:srgbClr val="3A9C6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16168" y="1216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16168" y="1600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customers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24928" y="1600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$132K ARR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16168" y="1920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GM: 75%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24928" y="1920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CF: ($81K)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06440" y="2377440"/>
            <a:ext cx="3063240" cy="1097280"/>
          </a:xfrm>
          <a:prstGeom prst="rect">
            <a:avLst/>
          </a:prstGeom>
          <a:solidFill>
            <a:srgbClr val="2E6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16168" y="24505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16168" y="2834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customers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24928" y="2834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$684K ARR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16168" y="3154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GM: 82%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24928" y="3154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CF: $141K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06440" y="3611880"/>
            <a:ext cx="3063240" cy="1097280"/>
          </a:xfrm>
          <a:prstGeom prst="rect">
            <a:avLst/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916168" y="3685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16168" y="4069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customers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24928" y="4069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 ARR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16168" y="4389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GM: 85%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424928" y="4389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CF: $1.1M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4434840"/>
            <a:ext cx="8503920" cy="475488"/>
          </a:xfrm>
          <a:prstGeom prst="rect">
            <a:avLst/>
          </a:prstGeom>
          <a:solidFill>
            <a:srgbClr val="F0F7F2"/>
          </a:solidFill>
          <a:ln w="6350">
            <a:solidFill>
              <a:srgbClr val="3A9C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4348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Startup Budget: $97K–$196K  |  Bootstrap-able with no-code MVP approach  |  Break-even: ~185 customers (early Year 2)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A9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UNFAIR ADVANTAGE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Already Know Your First Customers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0160">
            <a:solidFill>
              <a:srgbClr val="3A9C6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4160520" cy="3474720"/>
          </a:xfrm>
          <a:prstGeom prst="rect">
            <a:avLst/>
          </a:prstGeom>
          <a:solidFill>
            <a:srgbClr val="2E6B4A">
              <a:alpha val="30000"/>
            </a:srgbClr>
          </a:solidFill>
          <a:ln w="6350">
            <a:solidFill>
              <a:srgbClr val="3A9C6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Typical Startup Path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$100K+ in marketing to find first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12–24 months of cold outreach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Multiple painful pivots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Generic demos to unqualified leads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18+ months to product-market fit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160520" cy="3474720"/>
          </a:xfrm>
          <a:prstGeom prst="rect">
            <a:avLst/>
          </a:prstGeom>
          <a:solidFill>
            <a:srgbClr val="3A9C6A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Your Path (Existing Network)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Call pest control owners you know this week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discovery interviews in 10 days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926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beta partners committed in 30 days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429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 paying customers in 60–90 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Case studies + testimonials from Day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"Most startups spend 2 years finding their customers. You already know them."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A9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LAUNCH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idea to first paying customers in 90 days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743200" cy="3703320"/>
          </a:xfrm>
          <a:prstGeom prst="rect">
            <a:avLst/>
          </a:prstGeom>
          <a:solidFill>
            <a:srgbClr val="F0F9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2743200" cy="502920"/>
          </a:xfrm>
          <a:prstGeom prst="rect">
            <a:avLst/>
          </a:prstGeom>
          <a:solidFill>
            <a:srgbClr val="3A9C6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338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350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17830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Call 10 pest control owners you know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23500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Run compliance audits with 3 contacts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9169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Lock feature list with design partners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348386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Register LLC &amp; choose company name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" y="4370832"/>
            <a:ext cx="2596896" cy="347472"/>
          </a:xfrm>
          <a:prstGeom prst="rect">
            <a:avLst/>
          </a:prstGeom>
          <a:solidFill>
            <a:srgbClr val="2E6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43708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Validated pain point + 3 design partners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743200" cy="3703320"/>
          </a:xfrm>
          <a:prstGeom prst="rect">
            <a:avLst/>
          </a:prstGeom>
          <a:solidFill>
            <a:srgbClr val="2E6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solidFill>
            <a:srgbClr val="2E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11338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13350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17830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Start MVP development (no-code or dev team)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3500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Build EPA product database (top 500 products)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9169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Launch landing page + first blog post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48386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Set up Stripe, Supabase, GitHub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73552" y="4370832"/>
            <a:ext cx="2596896" cy="347472"/>
          </a:xfrm>
          <a:prstGeom prst="rect">
            <a:avLst/>
          </a:prstGeom>
          <a:solidFill>
            <a:srgbClr val="F4A3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10128" y="43708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MVP in development + landing page live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44768" y="1097280"/>
            <a:ext cx="2743200" cy="3703320"/>
          </a:xfrm>
          <a:prstGeom prst="rect">
            <a:avLst/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1097280"/>
            <a:ext cx="2743200" cy="50292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27" name="Text 25"/>
          <p:cNvSpPr/>
          <p:nvPr/>
        </p:nvSpPr>
        <p:spPr>
          <a:xfrm>
            <a:off x="6254496" y="11338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13350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81928" y="17830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Deploy beta to 5 design partners (free access)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81928" y="23500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Weekly feedback sessions with beta users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81928" y="29169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Attend 1 local pest control association meeting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81928" y="348386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Ask first users: "Would you pay $99/month?"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370832"/>
            <a:ext cx="2596896" cy="347472"/>
          </a:xfrm>
          <a:prstGeom prst="rect">
            <a:avLst/>
          </a:prstGeom>
          <a:solidFill>
            <a:srgbClr val="F4A3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54496" y="43708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$500–$1,000 MRR · 5 paying customers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953512" y="278892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9C6A"/>
                </a:solidFill>
              </a:rPr>
              <a:t>›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897880" y="278892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9C6A"/>
                </a:solidFill>
              </a:rPr>
              <a:t>›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4114800" cy="4114800"/>
          </a:xfrm>
          <a:prstGeom prst="ellipse">
            <a:avLst/>
          </a:prstGeom>
          <a:solidFill>
            <a:srgbClr val="2E6B4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A9C6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A9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NOW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PestGuard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ADD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compliance layer a $26 billion industry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AADD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been waiting for.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029200" cy="0"/>
          </a:xfrm>
          <a:prstGeom prst="line">
            <a:avLst/>
          </a:prstGeom>
          <a:noFill/>
          <a:ln w="15240">
            <a:solidFill>
              <a:srgbClr val="3A9C6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12,000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364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Companies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2788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$373M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06040" y="3364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Market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2788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3364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Software Adoption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03720" y="2788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$18,750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03720" y="3364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Fine Per Violation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3A9C6A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8587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next step: Call 3 pest control contacts this week.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2336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"How do you document your chemical applications right now?" — Let the pain sell itself.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PestGuard AI — Investor Pitch Deck</dc:title>
  <dc:subject>PptxGenJS Presentation</dc:subject>
  <dc:creator>Ola</dc:creator>
  <cp:lastModifiedBy>Ola</cp:lastModifiedBy>
  <cp:revision>1</cp:revision>
  <dcterms:created xsi:type="dcterms:W3CDTF">2026-03-10T06:31:26Z</dcterms:created>
  <dcterms:modified xsi:type="dcterms:W3CDTF">2026-03-10T06:31:26Z</dcterms:modified>
</cp:coreProperties>
</file>